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.jpeg"/><Relationship Id="rId1" Type="http://schemas.openxmlformats.org/officeDocument/2006/relationships/image" Target="../media/image5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513788" y="365125"/>
            <a:ext cx="4840010" cy="180730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dirty="0">
                <a:latin typeface="Franklin Gothic"/>
                <a:ea typeface="+mj-ea"/>
                <a:cs typeface="+mj-cs"/>
              </a:rPr>
              <a:t>    GENERAL RELATIVITY ​</a:t>
            </a:r>
            <a:endParaRPr lang="en-US" sz="3700" b="1" dirty="0">
              <a:latin typeface="Franklin Gothic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dirty="0">
                <a:latin typeface="Franklin Gothic"/>
                <a:ea typeface="+mj-ea"/>
                <a:cs typeface="+mj-cs"/>
              </a:rPr>
              <a:t>                   by​</a:t>
            </a:r>
            <a:endParaRPr lang="en-US" sz="3700" b="1" dirty="0">
              <a:latin typeface="Franklin Gothic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dirty="0">
                <a:latin typeface="Franklin Gothic"/>
                <a:ea typeface="+mj-ea"/>
                <a:cs typeface="+mj-cs"/>
              </a:rPr>
              <a:t>      ALBERT EINSTEIN</a:t>
            </a:r>
            <a:endParaRPr lang="en-US" sz="3700" b="1" dirty="0">
              <a:latin typeface="Franklin Gothic"/>
              <a:ea typeface="+mj-ea"/>
              <a:cs typeface="+mj-cs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1"/>
          <a:srcRect l="29450" r="32199"/>
          <a:stretch>
            <a:fillRect/>
          </a:stretch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8" name="TextBox 7"/>
          <p:cNvSpPr txBox="1"/>
          <p:nvPr/>
        </p:nvSpPr>
        <p:spPr>
          <a:xfrm>
            <a:off x="6419713" y="3151742"/>
            <a:ext cx="4840010" cy="384366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Why did I need this ?</a:t>
            </a:r>
            <a:endParaRPr lang="en-US" sz="20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What is general relativity ?</a:t>
            </a:r>
            <a:endParaRPr lang="en-US" sz="2000" dirty="0">
              <a:cs typeface="Calibri" panose="020F0502020204030204"/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Experiments</a:t>
            </a:r>
            <a:endParaRPr lang="en-US" sz="2000" dirty="0">
              <a:cs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08690" y="6639034"/>
            <a:ext cx="6349999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US" sz="800">
                <a:ea typeface="+mn-lt"/>
                <a:cs typeface="+mn-lt"/>
              </a:rPr>
              <a:t>https://www.linkedin.com/pulse/think-like-einstein-paradox-mindset-enza-artino</a:t>
            </a:r>
            <a:endParaRPr lang="en-US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425" y="355775"/>
            <a:ext cx="4699876" cy="5810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457200" indent="-457200">
              <a:buFont typeface="Arial" panose="020B0604020202020204"/>
              <a:buChar char="•"/>
            </a:pPr>
            <a:r>
              <a:rPr lang="en-US" sz="2800" b="1" kern="1200">
                <a:latin typeface="+mj-lt"/>
                <a:ea typeface="+mj-ea"/>
                <a:cs typeface="+mj-cs"/>
              </a:rPr>
              <a:t>Mercury's orbit</a:t>
            </a:r>
            <a:r>
              <a:rPr lang="en-US" sz="2800" b="1"/>
              <a:t> deviation</a:t>
            </a:r>
            <a:endParaRPr lang="en-US" b="1">
              <a:cs typeface="Calibri Light" panose="020F0302020204030204"/>
            </a:endParaRPr>
          </a:p>
        </p:txBody>
      </p:sp>
      <p:pic>
        <p:nvPicPr>
          <p:cNvPr id="7" name="Picture 7" descr="Shape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92" y="961430"/>
            <a:ext cx="5533988" cy="48082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2352" y="5912979"/>
            <a:ext cx="3836244" cy="18656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normAutofit fontScale="775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800"/>
              <a:t>                    https://medium.com/@GatotSoedarto/what-causes-mercurys-orbit-is-the-most-eccentric-67bcc1d7e6c</a:t>
            </a:r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019" y="985906"/>
            <a:ext cx="5447985" cy="50690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28746" y="6057206"/>
            <a:ext cx="2530592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US" sz="800">
                <a:ea typeface="+mn-lt"/>
                <a:cs typeface="+mn-lt"/>
              </a:rPr>
              <a:t>https://www.galactic-hunter.com/post/twin-quasar</a:t>
            </a:r>
            <a:endParaRPr lang="en-US" sz="800">
              <a:cs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42010" y="383814"/>
            <a:ext cx="39134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>
              <a:buFont typeface="Arial" panose="020B0604020202020204"/>
              <a:buChar char="•"/>
            </a:pPr>
            <a:r>
              <a:rPr lang="en-US" sz="2800" b="1">
                <a:latin typeface="Calibri Light" panose="020F0302020204030204"/>
                <a:cs typeface="Calibri" panose="020F0502020204030204"/>
              </a:rPr>
              <a:t>Twin quasar</a:t>
            </a:r>
            <a:endParaRPr lang="en-US" sz="2800" b="1">
              <a:latin typeface="Calibri Light" panose="020F0302020204030204"/>
              <a:cs typeface="Calibri" panose="020F0502020204030204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159251" y="891284"/>
            <a:ext cx="11685138" cy="2397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6006959" y="908407"/>
            <a:ext cx="49654" cy="525522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9" descr="Chart&#10;&#10;Description automatically generated"/>
          <p:cNvPicPr>
            <a:picLocks noChangeAspect="1"/>
          </p:cNvPicPr>
          <p:nvPr/>
        </p:nvPicPr>
        <p:blipFill rotWithShape="1">
          <a:blip r:embed="rId1"/>
          <a:srcRect l="13077" r="7612"/>
          <a:stretch>
            <a:fillRect/>
          </a:stretch>
        </p:blipFill>
        <p:spPr>
          <a:xfrm>
            <a:off x="2296585" y="349261"/>
            <a:ext cx="8177392" cy="58314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6777" y="576792"/>
            <a:ext cx="6393939" cy="77807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dirty="0">
                <a:latin typeface="+mj-lt"/>
                <a:ea typeface="+mj-ea"/>
                <a:cs typeface="+mj-cs"/>
              </a:rPr>
              <a:t>What is General Relativity ?</a:t>
            </a:r>
            <a:endParaRPr lang="en-US" sz="2400" b="1" dirty="0">
              <a:latin typeface="+mj-lt"/>
              <a:ea typeface="+mj-ea"/>
              <a:cs typeface="Calibri Light" panose="020F03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 rot="1020000">
            <a:off x="3162366" y="4917061"/>
            <a:ext cx="3737523" cy="20792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800" dirty="0"/>
              <a:t>https://www.esa.int/ESA_Multimedia/Images/2015/09/Spacetime_curvature</a:t>
            </a:r>
            <a:endParaRPr lang="en-US" sz="800" dirty="0">
              <a:cs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21566" y="5948629"/>
            <a:ext cx="687817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ea typeface="+mn-lt"/>
                <a:cs typeface="+mn-lt"/>
              </a:rPr>
              <a:t>A theory which would unify space and time...</a:t>
            </a:r>
            <a:endParaRPr lang="en-US" sz="2400" dirty="0">
              <a:ea typeface="+mn-lt"/>
              <a:cs typeface="+mn-lt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627841" y="6173260"/>
            <a:ext cx="3708400" cy="42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3" name="Connector: Curved 22"/>
          <p:cNvCxnSpPr/>
          <p:nvPr/>
        </p:nvCxnSpPr>
        <p:spPr>
          <a:xfrm>
            <a:off x="352425" y="1156758"/>
            <a:ext cx="2300816" cy="5020732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Connector: Curved 24"/>
          <p:cNvCxnSpPr/>
          <p:nvPr/>
        </p:nvCxnSpPr>
        <p:spPr>
          <a:xfrm flipH="1">
            <a:off x="2362200" y="167216"/>
            <a:ext cx="3678767" cy="575733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Connector: Curved 25"/>
          <p:cNvCxnSpPr/>
          <p:nvPr/>
        </p:nvCxnSpPr>
        <p:spPr>
          <a:xfrm>
            <a:off x="6014508" y="161925"/>
            <a:ext cx="4988983" cy="1295399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10908243" y="1463674"/>
            <a:ext cx="91016" cy="42799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Diagram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316" y="1445530"/>
            <a:ext cx="5082116" cy="44326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17750" y="465665"/>
            <a:ext cx="810683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gravity and acceleration are the same thing   so, gravity should bend the light.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400" y="1440923"/>
            <a:ext cx="5431366" cy="4314820"/>
          </a:xfrm>
          <a:prstGeom prst="rect">
            <a:avLst/>
          </a:prstGeom>
        </p:spPr>
      </p:pic>
      <p:sp>
        <p:nvSpPr>
          <p:cNvPr id="6" name="Flowchart: Process 5"/>
          <p:cNvSpPr/>
          <p:nvPr/>
        </p:nvSpPr>
        <p:spPr>
          <a:xfrm>
            <a:off x="1989665" y="1449916"/>
            <a:ext cx="2222500" cy="3630082"/>
          </a:xfrm>
          <a:prstGeom prst="flowChartProces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Process 6"/>
          <p:cNvSpPr/>
          <p:nvPr/>
        </p:nvSpPr>
        <p:spPr>
          <a:xfrm rot="5400000">
            <a:off x="2019720" y="3154320"/>
            <a:ext cx="994834" cy="4360331"/>
          </a:xfrm>
          <a:prstGeom prst="flowChartProces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Process 7"/>
          <p:cNvSpPr/>
          <p:nvPr/>
        </p:nvSpPr>
        <p:spPr>
          <a:xfrm rot="10800000">
            <a:off x="332915" y="1898954"/>
            <a:ext cx="370419" cy="2592915"/>
          </a:xfrm>
          <a:prstGeom prst="flowChartProces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228415" y="5725584"/>
            <a:ext cx="6498166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US" sz="800" dirty="0">
                <a:ea typeface="+mn-lt"/>
                <a:cs typeface="+mn-lt"/>
              </a:rPr>
              <a:t>https://subratachak.wordpress.com/2017/12/22/newtonian-gravity-vs-general-relativity/</a:t>
            </a:r>
            <a:endParaRPr lang="en-US" sz="800" dirty="0">
              <a:ea typeface="+mn-lt"/>
              <a:cs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8582" y="6127749"/>
            <a:ext cx="5683249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US" sz="800" dirty="0">
                <a:ea typeface="+mn-lt"/>
                <a:cs typeface="+mn-lt"/>
              </a:rPr>
              <a:t>https://physics.stackexchange.com/questions/122003/light-and-gravity-bending-of-light-around-a-massive-body</a:t>
            </a:r>
            <a:endParaRPr lang="en-US" sz="800" dirty="0"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85333" y="6127750"/>
            <a:ext cx="95884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is a result of the bending of space-time by the nearby galaxy, as defined by general relativity.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2833" y="486833"/>
            <a:ext cx="1841499" cy="4462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300" dirty="0">
                <a:cs typeface="Calibri" panose="020F0502020204030204"/>
              </a:rPr>
              <a:t>Twin quasar</a:t>
            </a:r>
            <a:endParaRPr lang="en-US" sz="2300" dirty="0">
              <a:cs typeface="Calibri" panose="020F0502020204030204"/>
            </a:endParaRPr>
          </a:p>
        </p:txBody>
      </p:sp>
      <p:pic>
        <p:nvPicPr>
          <p:cNvPr id="5" name="Picture 5" descr="Diagram, timeline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447800"/>
            <a:ext cx="8119532" cy="43963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rot="5400000">
            <a:off x="-1545168" y="3693583"/>
            <a:ext cx="4159249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US" sz="800" dirty="0">
                <a:ea typeface="+mn-lt"/>
                <a:cs typeface="+mn-lt"/>
              </a:rPr>
              <a:t>https://astronomy.com/magazine/weirdest-objects/2015/03/40-double-quasar-0957561</a:t>
            </a:r>
            <a:endParaRPr lang="en-US" sz="800" dirty="0">
              <a:cs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73582" y="3492500"/>
            <a:ext cx="40110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A twin quasar is a single quasar...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3" y="0"/>
            <a:ext cx="5135971" cy="687164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1"/>
          <a:srcRect r="-2" b="1427"/>
          <a:stretch>
            <a:fillRect/>
          </a:stretch>
        </p:blipFill>
        <p:spPr>
          <a:xfrm>
            <a:off x="2915455" y="10"/>
            <a:ext cx="9276545" cy="6857990"/>
          </a:xfrm>
          <a:custGeom>
            <a:avLst/>
            <a:gdLst/>
            <a:ahLst/>
            <a:cxnLst/>
            <a:rect l="l" t="t" r="r" b="b"/>
            <a:pathLst>
              <a:path w="9276545" h="6871647">
                <a:moveTo>
                  <a:pt x="9276545" y="0"/>
                </a:moveTo>
                <a:lnTo>
                  <a:pt x="9276545" y="6858000"/>
                </a:lnTo>
                <a:lnTo>
                  <a:pt x="1546051" y="6871647"/>
                </a:lnTo>
                <a:lnTo>
                  <a:pt x="1535751" y="6828910"/>
                </a:lnTo>
                <a:cubicBezTo>
                  <a:pt x="1530460" y="6775140"/>
                  <a:pt x="1515370" y="6618042"/>
                  <a:pt x="1514301" y="6549029"/>
                </a:cubicBezTo>
                <a:cubicBezTo>
                  <a:pt x="1518045" y="6491396"/>
                  <a:pt x="1528503" y="6450608"/>
                  <a:pt x="1529339" y="6414828"/>
                </a:cubicBezTo>
                <a:cubicBezTo>
                  <a:pt x="1525062" y="6359280"/>
                  <a:pt x="1502062" y="6307149"/>
                  <a:pt x="1493941" y="6268848"/>
                </a:cubicBezTo>
                <a:cubicBezTo>
                  <a:pt x="1502669" y="6254191"/>
                  <a:pt x="1469920" y="6200171"/>
                  <a:pt x="1480613" y="6185025"/>
                </a:cubicBezTo>
                <a:cubicBezTo>
                  <a:pt x="1481020" y="6164522"/>
                  <a:pt x="1458164" y="6060790"/>
                  <a:pt x="1443364" y="6018360"/>
                </a:cubicBezTo>
                <a:cubicBezTo>
                  <a:pt x="1426694" y="5970758"/>
                  <a:pt x="1390307" y="5920074"/>
                  <a:pt x="1380584" y="5899407"/>
                </a:cubicBezTo>
                <a:cubicBezTo>
                  <a:pt x="1370860" y="5878740"/>
                  <a:pt x="1392244" y="5920877"/>
                  <a:pt x="1385023" y="5894356"/>
                </a:cubicBezTo>
                <a:cubicBezTo>
                  <a:pt x="1377800" y="5867835"/>
                  <a:pt x="1345702" y="5770498"/>
                  <a:pt x="1337254" y="5740279"/>
                </a:cubicBezTo>
                <a:cubicBezTo>
                  <a:pt x="1353956" y="5738860"/>
                  <a:pt x="1323673" y="5722040"/>
                  <a:pt x="1334321" y="5713042"/>
                </a:cubicBezTo>
                <a:cubicBezTo>
                  <a:pt x="1343675" y="5706701"/>
                  <a:pt x="1336672" y="5700118"/>
                  <a:pt x="1335877" y="5692870"/>
                </a:cubicBezTo>
                <a:cubicBezTo>
                  <a:pt x="1343201" y="5683812"/>
                  <a:pt x="1329617" y="5652064"/>
                  <a:pt x="1319978" y="5643427"/>
                </a:cubicBezTo>
                <a:cubicBezTo>
                  <a:pt x="1286551" y="5622177"/>
                  <a:pt x="1310947" y="5579803"/>
                  <a:pt x="1285321" y="5562271"/>
                </a:cubicBezTo>
                <a:cubicBezTo>
                  <a:pt x="1281540" y="5556238"/>
                  <a:pt x="1279983" y="5550455"/>
                  <a:pt x="1279815" y="5544867"/>
                </a:cubicBezTo>
                <a:lnTo>
                  <a:pt x="1282507" y="5529404"/>
                </a:lnTo>
                <a:lnTo>
                  <a:pt x="1289604" y="5525378"/>
                </a:lnTo>
                <a:lnTo>
                  <a:pt x="1287766" y="5515726"/>
                </a:lnTo>
                <a:lnTo>
                  <a:pt x="1288829" y="5513051"/>
                </a:lnTo>
                <a:cubicBezTo>
                  <a:pt x="1290896" y="5507946"/>
                  <a:pt x="1292688" y="5502897"/>
                  <a:pt x="1293373" y="5497833"/>
                </a:cubicBezTo>
                <a:cubicBezTo>
                  <a:pt x="1288690" y="5483829"/>
                  <a:pt x="1272696" y="5459278"/>
                  <a:pt x="1260736" y="5429027"/>
                </a:cubicBezTo>
                <a:cubicBezTo>
                  <a:pt x="1238579" y="5396416"/>
                  <a:pt x="1238884" y="5351600"/>
                  <a:pt x="1221610" y="5316328"/>
                </a:cubicBezTo>
                <a:lnTo>
                  <a:pt x="1216099" y="5309330"/>
                </a:lnTo>
                <a:lnTo>
                  <a:pt x="1217278" y="5279477"/>
                </a:lnTo>
                <a:cubicBezTo>
                  <a:pt x="1221588" y="5274318"/>
                  <a:pt x="1222716" y="5266940"/>
                  <a:pt x="1218469" y="5260597"/>
                </a:cubicBezTo>
                <a:lnTo>
                  <a:pt x="1206220" y="5152555"/>
                </a:lnTo>
                <a:cubicBezTo>
                  <a:pt x="1205294" y="5116878"/>
                  <a:pt x="1196908" y="5101727"/>
                  <a:pt x="1212921" y="5046536"/>
                </a:cubicBezTo>
                <a:cubicBezTo>
                  <a:pt x="1234138" y="4987918"/>
                  <a:pt x="1204801" y="4903116"/>
                  <a:pt x="1212183" y="4837345"/>
                </a:cubicBezTo>
                <a:cubicBezTo>
                  <a:pt x="1183151" y="4802424"/>
                  <a:pt x="1209228" y="4821062"/>
                  <a:pt x="1202048" y="4784195"/>
                </a:cubicBezTo>
                <a:cubicBezTo>
                  <a:pt x="1202483" y="4760878"/>
                  <a:pt x="1202919" y="4737561"/>
                  <a:pt x="1203354" y="4714245"/>
                </a:cubicBezTo>
                <a:lnTo>
                  <a:pt x="1201502" y="4700836"/>
                </a:lnTo>
                <a:lnTo>
                  <a:pt x="1194919" y="4697224"/>
                </a:lnTo>
                <a:lnTo>
                  <a:pt x="1187792" y="4677162"/>
                </a:lnTo>
                <a:cubicBezTo>
                  <a:pt x="1186060" y="4669625"/>
                  <a:pt x="1185291" y="4661478"/>
                  <a:pt x="1186080" y="4652429"/>
                </a:cubicBezTo>
                <a:cubicBezTo>
                  <a:pt x="1199189" y="4622456"/>
                  <a:pt x="1167081" y="4571771"/>
                  <a:pt x="1184722" y="4534840"/>
                </a:cubicBezTo>
                <a:cubicBezTo>
                  <a:pt x="1182407" y="4499077"/>
                  <a:pt x="1175424" y="4460227"/>
                  <a:pt x="1172188" y="4437851"/>
                </a:cubicBezTo>
                <a:cubicBezTo>
                  <a:pt x="1161331" y="4428466"/>
                  <a:pt x="1178123" y="4398274"/>
                  <a:pt x="1165306" y="4400581"/>
                </a:cubicBezTo>
                <a:cubicBezTo>
                  <a:pt x="1171061" y="4389819"/>
                  <a:pt x="1173552" y="4346771"/>
                  <a:pt x="1168602" y="4335651"/>
                </a:cubicBezTo>
                <a:lnTo>
                  <a:pt x="1178384" y="4280215"/>
                </a:lnTo>
                <a:lnTo>
                  <a:pt x="1177294" y="4274660"/>
                </a:lnTo>
                <a:cubicBezTo>
                  <a:pt x="1177138" y="4268882"/>
                  <a:pt x="1177520" y="4251103"/>
                  <a:pt x="1177448" y="4245552"/>
                </a:cubicBezTo>
                <a:cubicBezTo>
                  <a:pt x="1177252" y="4244155"/>
                  <a:pt x="1177058" y="4242757"/>
                  <a:pt x="1176863" y="4241361"/>
                </a:cubicBezTo>
                <a:lnTo>
                  <a:pt x="1162386" y="4207167"/>
                </a:lnTo>
                <a:cubicBezTo>
                  <a:pt x="1162950" y="4202536"/>
                  <a:pt x="1174655" y="4199565"/>
                  <a:pt x="1174343" y="4192380"/>
                </a:cubicBezTo>
                <a:lnTo>
                  <a:pt x="1160516" y="4164062"/>
                </a:lnTo>
                <a:lnTo>
                  <a:pt x="1161365" y="4158623"/>
                </a:lnTo>
                <a:lnTo>
                  <a:pt x="1144878" y="4076261"/>
                </a:lnTo>
                <a:lnTo>
                  <a:pt x="1123687" y="4005692"/>
                </a:lnTo>
                <a:lnTo>
                  <a:pt x="1096720" y="3754257"/>
                </a:lnTo>
                <a:cubicBezTo>
                  <a:pt x="1083618" y="3639924"/>
                  <a:pt x="1064313" y="3636659"/>
                  <a:pt x="1047682" y="3517638"/>
                </a:cubicBezTo>
                <a:cubicBezTo>
                  <a:pt x="1048550" y="3477187"/>
                  <a:pt x="1049418" y="3436735"/>
                  <a:pt x="1050285" y="3396284"/>
                </a:cubicBezTo>
                <a:lnTo>
                  <a:pt x="1030166" y="3320814"/>
                </a:lnTo>
                <a:lnTo>
                  <a:pt x="1034128" y="3260443"/>
                </a:lnTo>
                <a:lnTo>
                  <a:pt x="1007751" y="3198916"/>
                </a:lnTo>
                <a:cubicBezTo>
                  <a:pt x="1003323" y="3193074"/>
                  <a:pt x="1001150" y="3187393"/>
                  <a:pt x="1000384" y="3181839"/>
                </a:cubicBezTo>
                <a:cubicBezTo>
                  <a:pt x="1000734" y="3176675"/>
                  <a:pt x="1001085" y="3171511"/>
                  <a:pt x="1001435" y="3166346"/>
                </a:cubicBezTo>
                <a:lnTo>
                  <a:pt x="968918" y="3112638"/>
                </a:lnTo>
                <a:cubicBezTo>
                  <a:pt x="957125" y="3092489"/>
                  <a:pt x="955617" y="3065232"/>
                  <a:pt x="934483" y="3031628"/>
                </a:cubicBezTo>
                <a:cubicBezTo>
                  <a:pt x="914631" y="2997037"/>
                  <a:pt x="908933" y="3005661"/>
                  <a:pt x="879229" y="2948196"/>
                </a:cubicBezTo>
                <a:cubicBezTo>
                  <a:pt x="850845" y="2897154"/>
                  <a:pt x="820829" y="2806798"/>
                  <a:pt x="798666" y="2761198"/>
                </a:cubicBezTo>
                <a:cubicBezTo>
                  <a:pt x="773970" y="2714562"/>
                  <a:pt x="758278" y="2715446"/>
                  <a:pt x="746962" y="2694939"/>
                </a:cubicBezTo>
                <a:lnTo>
                  <a:pt x="712796" y="2614779"/>
                </a:lnTo>
                <a:lnTo>
                  <a:pt x="697701" y="2600020"/>
                </a:lnTo>
                <a:cubicBezTo>
                  <a:pt x="697743" y="2598787"/>
                  <a:pt x="697784" y="2597555"/>
                  <a:pt x="697823" y="2596321"/>
                </a:cubicBezTo>
                <a:lnTo>
                  <a:pt x="679645" y="2572602"/>
                </a:lnTo>
                <a:lnTo>
                  <a:pt x="680789" y="2571831"/>
                </a:lnTo>
                <a:cubicBezTo>
                  <a:pt x="682946" y="2569560"/>
                  <a:pt x="683757" y="2566863"/>
                  <a:pt x="681771" y="2563200"/>
                </a:cubicBezTo>
                <a:cubicBezTo>
                  <a:pt x="705290" y="2562299"/>
                  <a:pt x="688388" y="2558438"/>
                  <a:pt x="680456" y="2547723"/>
                </a:cubicBezTo>
                <a:cubicBezTo>
                  <a:pt x="679482" y="2534148"/>
                  <a:pt x="677183" y="2493617"/>
                  <a:pt x="675922" y="2481749"/>
                </a:cubicBezTo>
                <a:lnTo>
                  <a:pt x="672894" y="2476509"/>
                </a:lnTo>
                <a:lnTo>
                  <a:pt x="673143" y="2476297"/>
                </a:lnTo>
                <a:cubicBezTo>
                  <a:pt x="673152" y="2474932"/>
                  <a:pt x="672405" y="2473126"/>
                  <a:pt x="670567" y="2470561"/>
                </a:cubicBezTo>
                <a:lnTo>
                  <a:pt x="667369" y="2466951"/>
                </a:lnTo>
                <a:lnTo>
                  <a:pt x="661495" y="2456785"/>
                </a:lnTo>
                <a:cubicBezTo>
                  <a:pt x="661510" y="2455387"/>
                  <a:pt x="661525" y="2453987"/>
                  <a:pt x="661540" y="2452588"/>
                </a:cubicBezTo>
                <a:lnTo>
                  <a:pt x="664540" y="2449913"/>
                </a:lnTo>
                <a:lnTo>
                  <a:pt x="663581" y="2449129"/>
                </a:lnTo>
                <a:cubicBezTo>
                  <a:pt x="653014" y="2444453"/>
                  <a:pt x="642406" y="2445872"/>
                  <a:pt x="663129" y="2426579"/>
                </a:cubicBezTo>
                <a:cubicBezTo>
                  <a:pt x="643271" y="2414167"/>
                  <a:pt x="657229" y="2404769"/>
                  <a:pt x="650205" y="2379928"/>
                </a:cubicBezTo>
                <a:cubicBezTo>
                  <a:pt x="634911" y="2374359"/>
                  <a:pt x="634260" y="2365346"/>
                  <a:pt x="638008" y="2354824"/>
                </a:cubicBezTo>
                <a:cubicBezTo>
                  <a:pt x="621083" y="2334576"/>
                  <a:pt x="620949" y="2310146"/>
                  <a:pt x="609851" y="2284299"/>
                </a:cubicBezTo>
                <a:lnTo>
                  <a:pt x="585585" y="2155739"/>
                </a:lnTo>
                <a:lnTo>
                  <a:pt x="581391" y="2152892"/>
                </a:lnTo>
                <a:cubicBezTo>
                  <a:pt x="578821" y="2150768"/>
                  <a:pt x="577525" y="2149149"/>
                  <a:pt x="577083" y="2147807"/>
                </a:cubicBezTo>
                <a:lnTo>
                  <a:pt x="577251" y="2147544"/>
                </a:lnTo>
                <a:lnTo>
                  <a:pt x="546845" y="2085601"/>
                </a:lnTo>
                <a:cubicBezTo>
                  <a:pt x="538270" y="2073917"/>
                  <a:pt x="486356" y="1955894"/>
                  <a:pt x="470837" y="1931362"/>
                </a:cubicBezTo>
                <a:lnTo>
                  <a:pt x="428154" y="1657167"/>
                </a:lnTo>
                <a:lnTo>
                  <a:pt x="392797" y="1510175"/>
                </a:lnTo>
                <a:cubicBezTo>
                  <a:pt x="380165" y="1504446"/>
                  <a:pt x="369910" y="1451095"/>
                  <a:pt x="372847" y="1440507"/>
                </a:cubicBezTo>
                <a:cubicBezTo>
                  <a:pt x="369015" y="1433783"/>
                  <a:pt x="338503" y="1376212"/>
                  <a:pt x="344479" y="1367690"/>
                </a:cubicBezTo>
                <a:cubicBezTo>
                  <a:pt x="332264" y="1342150"/>
                  <a:pt x="321736" y="1310521"/>
                  <a:pt x="299558" y="1287266"/>
                </a:cubicBezTo>
                <a:cubicBezTo>
                  <a:pt x="277380" y="1264010"/>
                  <a:pt x="259203" y="1269909"/>
                  <a:pt x="243216" y="1249403"/>
                </a:cubicBezTo>
                <a:cubicBezTo>
                  <a:pt x="227230" y="1228898"/>
                  <a:pt x="218454" y="1166841"/>
                  <a:pt x="203639" y="1164232"/>
                </a:cubicBezTo>
                <a:cubicBezTo>
                  <a:pt x="192352" y="1144923"/>
                  <a:pt x="198158" y="1133798"/>
                  <a:pt x="169195" y="1087898"/>
                </a:cubicBezTo>
                <a:cubicBezTo>
                  <a:pt x="139228" y="1002950"/>
                  <a:pt x="140891" y="969630"/>
                  <a:pt x="98775" y="910071"/>
                </a:cubicBezTo>
                <a:cubicBezTo>
                  <a:pt x="45025" y="831068"/>
                  <a:pt x="34038" y="817468"/>
                  <a:pt x="43820" y="712632"/>
                </a:cubicBezTo>
                <a:cubicBezTo>
                  <a:pt x="34816" y="659496"/>
                  <a:pt x="43273" y="613587"/>
                  <a:pt x="44748" y="591246"/>
                </a:cubicBezTo>
                <a:lnTo>
                  <a:pt x="36767" y="546725"/>
                </a:lnTo>
                <a:cubicBezTo>
                  <a:pt x="36093" y="528360"/>
                  <a:pt x="35418" y="509996"/>
                  <a:pt x="34744" y="491632"/>
                </a:cubicBezTo>
                <a:cubicBezTo>
                  <a:pt x="34670" y="458441"/>
                  <a:pt x="29296" y="473054"/>
                  <a:pt x="29222" y="439863"/>
                </a:cubicBezTo>
                <a:cubicBezTo>
                  <a:pt x="29152" y="439762"/>
                  <a:pt x="2578" y="397168"/>
                  <a:pt x="2507" y="397065"/>
                </a:cubicBezTo>
                <a:cubicBezTo>
                  <a:pt x="-7796" y="385479"/>
                  <a:pt x="17492" y="336832"/>
                  <a:pt x="9810" y="317232"/>
                </a:cubicBezTo>
                <a:lnTo>
                  <a:pt x="25323" y="268841"/>
                </a:lnTo>
                <a:cubicBezTo>
                  <a:pt x="20582" y="241406"/>
                  <a:pt x="55391" y="238509"/>
                  <a:pt x="50278" y="195107"/>
                </a:cubicBezTo>
                <a:cubicBezTo>
                  <a:pt x="49891" y="157638"/>
                  <a:pt x="41873" y="124837"/>
                  <a:pt x="47653" y="93413"/>
                </a:cubicBezTo>
                <a:cubicBezTo>
                  <a:pt x="41389" y="80245"/>
                  <a:pt x="38874" y="67990"/>
                  <a:pt x="48323" y="56668"/>
                </a:cubicBezTo>
                <a:cubicBezTo>
                  <a:pt x="46028" y="30349"/>
                  <a:pt x="37896" y="18658"/>
                  <a:pt x="38423" y="5323"/>
                </a:cubicBezTo>
                <a:lnTo>
                  <a:pt x="39875" y="1"/>
                </a:lnTo>
                <a:close/>
              </a:path>
            </a:pathLst>
          </a:custGeom>
        </p:spPr>
      </p:pic>
      <p:sp>
        <p:nvSpPr>
          <p:cNvPr id="5" name="TextBox 4"/>
          <p:cNvSpPr txBox="1"/>
          <p:nvPr/>
        </p:nvSpPr>
        <p:spPr>
          <a:xfrm>
            <a:off x="508000" y="3428999"/>
            <a:ext cx="351366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US" sz="4000" b="1" dirty="0">
                <a:latin typeface="Franklin Gothic"/>
                <a:cs typeface="Calibri" panose="020F0502020204030204"/>
              </a:rPr>
              <a:t>QUESTIONS?</a:t>
            </a:r>
            <a:endParaRPr lang="en-US" sz="4000" b="1" dirty="0">
              <a:latin typeface="Franklin Gothic"/>
              <a:cs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70333" y="6614582"/>
            <a:ext cx="6222999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US" sz="800" dirty="0"/>
              <a:t>https://www.cloudynights.com/topic/842734-ngc-7822-revisited-the-question-mark-nebula/</a:t>
            </a:r>
            <a:endParaRPr lang="en-US" sz="800" dirty="0"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7" y="227541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Franklin Gothic"/>
                <a:cs typeface="Calibri Light" panose="020F0302020204030204"/>
              </a:rPr>
              <a:t>                              TAHNK YOU</a:t>
            </a:r>
            <a:endParaRPr lang="en-US" sz="4800">
              <a:latin typeface="Franklin Gothic"/>
              <a:cs typeface="Calibri Light" panose="020F03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1045" y="1553210"/>
            <a:ext cx="11450955" cy="23069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US" b="1" u="sng" dirty="0">
                <a:solidFill>
                  <a:srgbClr val="FFFFFF"/>
                </a:solidFill>
                <a:latin typeface="Franklin Gothic Book"/>
                <a:cs typeface="Calibri" panose="020F0502020204030204"/>
              </a:rPr>
              <a:t>REFERANCES</a:t>
            </a:r>
            <a:endParaRPr lang="en-US" b="1" u="sng" dirty="0">
              <a:solidFill>
                <a:srgbClr val="FFFFFF"/>
              </a:solidFill>
              <a:latin typeface="Franklin Gothic Book"/>
              <a:cs typeface="Calibri" panose="020F0502020204030204"/>
            </a:endParaRPr>
          </a:p>
          <a:p>
            <a:endParaRPr lang="en-US" b="1" u="sng" dirty="0">
              <a:solidFill>
                <a:srgbClr val="FFFFFF"/>
              </a:solidFill>
              <a:cs typeface="Calibri" panose="020F05020202040302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dirty="0">
                <a:ea typeface="+mn-lt"/>
                <a:cs typeface="+mn-lt"/>
              </a:rPr>
              <a:t>https://openai.com/blog/chatgpt/</a:t>
            </a:r>
            <a:endParaRPr lang="en-US" dirty="0">
              <a:solidFill>
                <a:srgbClr val="FFFFFF"/>
              </a:solidFill>
              <a:cs typeface="Calibri" panose="020F05020202040302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dirty="0">
                <a:solidFill>
                  <a:srgbClr val="FFFFFF"/>
                </a:solidFill>
                <a:cs typeface="Calibri" panose="020F0502020204030204"/>
              </a:rPr>
              <a:t>https://en.wikipedia.org/wiki/Twin_Quasar#:~:text=The%20Twin%20Quasar%20is%20a,as%20described%20by%20general%20relativity.</a:t>
            </a:r>
            <a:endParaRPr lang="en-US" dirty="0">
              <a:solidFill>
                <a:srgbClr val="FFFFFF"/>
              </a:solidFill>
              <a:cs typeface="Calibri" panose="020F05020202040302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dirty="0">
                <a:solidFill>
                  <a:srgbClr val="FFFFFF"/>
                </a:solidFill>
                <a:cs typeface="Calibri" panose="020F0502020204030204"/>
              </a:rPr>
              <a:t>ww.youtube.com/watch?v=PKTMprTMYww&amp;list=PLdbeYAM5mGiQ2Uyw7YmK2RPJ5awksXtQF&amp;index=4</a:t>
            </a:r>
            <a:endParaRPr lang="en-US" dirty="0">
              <a:solidFill>
                <a:srgbClr val="FFFFFF"/>
              </a:solidFill>
              <a:cs typeface="Calibri" panose="020F05020202040302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dirty="0">
                <a:solidFill>
                  <a:srgbClr val="FFFFFF"/>
                </a:solidFill>
                <a:cs typeface="Calibri" panose="020F0502020204030204"/>
              </a:rPr>
              <a:t>https://www.youtube.com/playlist?list=PLdbeYAM5mGiQ2Uyw7YmK2RPJ5awksXtQF</a:t>
            </a:r>
            <a:endParaRPr lang="en-US" dirty="0">
              <a:solidFill>
                <a:srgbClr val="FFFFFF"/>
              </a:solidFill>
              <a:cs typeface="Calibri" panose="020F05020202040302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dirty="0">
                <a:solidFill>
                  <a:srgbClr val="FFFFFF"/>
                </a:solidFill>
                <a:cs typeface="Calibri" panose="020F0502020204030204"/>
              </a:rPr>
              <a:t>https://www.youtube.com/watch?v=UVs8p1u7BkA</a:t>
            </a:r>
            <a:endParaRPr lang="en-US" dirty="0">
              <a:solidFill>
                <a:srgbClr val="FFFFFF"/>
              </a:solidFill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1534</Words>
  <Application>WPS Presentation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SimSun</vt:lpstr>
      <vt:lpstr>Wingdings</vt:lpstr>
      <vt:lpstr>Franklin Gothic</vt:lpstr>
      <vt:lpstr>Franklin Gothic Medium</vt:lpstr>
      <vt:lpstr>Calibri</vt:lpstr>
      <vt:lpstr>Arial</vt:lpstr>
      <vt:lpstr>Calibri Light</vt:lpstr>
      <vt:lpstr>Franklin Gothic Book</vt:lpstr>
      <vt:lpstr>Microsoft YaHei</vt:lpstr>
      <vt:lpstr>Arial Unicode MS</vt:lpstr>
      <vt:lpstr>Calibri</vt:lpstr>
      <vt:lpstr>Office Theme</vt:lpstr>
      <vt:lpstr>PowerPoint 演示文稿</vt:lpstr>
      <vt:lpstr>Mercury's orbit deviation</vt:lpstr>
      <vt:lpstr>PowerPoint 演示文稿</vt:lpstr>
      <vt:lpstr>PowerPoint 演示文稿</vt:lpstr>
      <vt:lpstr>PowerPoint 演示文稿</vt:lpstr>
      <vt:lpstr>PowerPoint 演示文稿</vt:lpstr>
      <vt:lpstr>                              TAHNK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cayan</cp:lastModifiedBy>
  <cp:revision>416</cp:revision>
  <dcterms:created xsi:type="dcterms:W3CDTF">2022-12-25T21:34:00Z</dcterms:created>
  <dcterms:modified xsi:type="dcterms:W3CDTF">2023-01-02T16:36:12Z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D0B448BD3D394BA88D3D6A6C64D3C6C8</vt:lpwstr>
  </property>
  <property fmtid="{D5CDD505-2E9C-101B-9397-08002B2CF9AE}" pid="3" name="KSOProductBuildVer">
    <vt:lpwstr>1033-11.2.0.11440</vt:lpwstr>
  </property>
</Properties>
</file>